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4846320"/>
          </a:xfrm>
          <a:prstGeom prst="rect">
            <a:avLst/>
          </a:prstGeom>
          <a:solidFill>
            <a:srgbClr val="122A46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73152" cy="484632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Knowledge Assistant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6FF"/>
                </a:solidFill>
              </a:rPr>
              <a:t>RAG-Powered Document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8"/>
                </a:solidFill>
              </a:rPr>
              <a:t>Upload documents  ·  Ask natural-language questions  ·  Evaluate AI answer quality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03320"/>
            <a:ext cx="882396" cy="256032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721607"/>
            <a:ext cx="7909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FastAPI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3703320"/>
            <a:ext cx="1056132" cy="25603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3721607"/>
            <a:ext cx="9646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LangChain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703320"/>
            <a:ext cx="795528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3721607"/>
            <a:ext cx="7040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OpenAI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59" y="3703320"/>
            <a:ext cx="708659" cy="2560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3721607"/>
            <a:ext cx="6172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FAISS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3703320"/>
            <a:ext cx="969264" cy="256032"/>
          </a:xfrm>
          <a:prstGeom prst="rect">
            <a:avLst/>
          </a:prstGeom>
          <a:solidFill>
            <a:srgbClr val="A2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3721607"/>
            <a:ext cx="877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ChromaDB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87000" y="3703320"/>
            <a:ext cx="882396" cy="2560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60152" y="3721607"/>
            <a:ext cx="7909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TruLens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A5A7A"/>
                </a:solidFill>
              </a:rPr>
              <a:t>Built with Python 3.11  ·  REST API  ·  OpenAPI / Swagger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5A7A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8"/>
                </a:solidFill>
              </a:rPr>
              <a:t>Why existing approaches fall short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338560" cy="1417320"/>
          </a:xfrm>
          <a:prstGeom prst="rect">
            <a:avLst/>
          </a:prstGeom>
          <a:solidFill>
            <a:srgbClr val="122A4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64008" cy="14173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📁  Information Locked in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Thousands of policies, manuals, and reports — searchable only by keyword.
Experts waste hours hunting for answers.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0"/>
            <a:ext cx="11338560" cy="1417320"/>
          </a:xfrm>
          <a:prstGeom prst="rect">
            <a:avLst/>
          </a:prstGeom>
          <a:solidFill>
            <a:srgbClr val="122A46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64008" cy="14173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🤖  Generic AI Hallucinates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Asking ChatGPT about YOUR documents? It doesn't know them.
It invents confident-sounding but wrong answers.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526280"/>
            <a:ext cx="11338560" cy="1417320"/>
          </a:xfrm>
          <a:prstGeom prst="rect">
            <a:avLst/>
          </a:prstGeom>
          <a:solidFill>
            <a:srgbClr val="122A4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526280"/>
            <a:ext cx="64008" cy="14173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📉  No Quality Measurement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Even when AI gives an answer, how do you know if it's accurate?
There's no feedback loop to measure or improve.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5A7A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RAG?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8"/>
                </a:solidFill>
              </a:rPr>
              <a:t>Retrieval-Augmented Generation — the core idea in 60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2377440" cy="1828800"/>
          </a:xfrm>
          <a:prstGeom prst="rect">
            <a:avLst/>
          </a:prstGeom>
          <a:solidFill>
            <a:srgbClr val="122A46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347472" cy="3474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92024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73E8"/>
                </a:solidFill>
              </a:rPr>
              <a:t>User
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487168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Natural language
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11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6FF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371600"/>
            <a:ext cx="2377440" cy="1828800"/>
          </a:xfrm>
          <a:prstGeom prst="rect">
            <a:avLst/>
          </a:prstGeom>
          <a:solidFill>
            <a:srgbClr val="122A46"/>
          </a:solidFill>
          <a:ln w="25400"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463040"/>
            <a:ext cx="347472" cy="347472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463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192024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6FF"/>
                </a:solidFill>
              </a:rPr>
              <a:t>Retrieve
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2487168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Search KB for
relevant chunks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011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6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1371600"/>
            <a:ext cx="2377440" cy="1828800"/>
          </a:xfrm>
          <a:prstGeom prst="rect">
            <a:avLst/>
          </a:prstGeom>
          <a:solidFill>
            <a:srgbClr val="122A46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1463040"/>
            <a:ext cx="347472" cy="34747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1463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2" y="192024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107"/>
                </a:solidFill>
              </a:rPr>
              <a:t>Augment
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2" y="2487168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"Use this info
to answer..."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011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6FF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1371600"/>
            <a:ext cx="2377440" cy="1828800"/>
          </a:xfrm>
          <a:prstGeom prst="rect">
            <a:avLst/>
          </a:prstGeom>
          <a:solidFill>
            <a:srgbClr val="122A46"/>
          </a:solidFill>
          <a:ln w="254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19" y="1463040"/>
            <a:ext cx="347472" cy="34747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19" y="1463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14232" y="192024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E576"/>
                </a:solidFill>
              </a:rPr>
              <a:t>Generate
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4232" y="2487168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LLM produces
grounded response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520440"/>
            <a:ext cx="11338560" cy="777240"/>
          </a:xfrm>
          <a:prstGeom prst="rect">
            <a:avLst/>
          </a:prstGeom>
          <a:solidFill>
            <a:srgbClr val="0A2A18"/>
          </a:solidFill>
          <a:ln w="1905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76"/>
                </a:solidFill>
              </a:rPr>
              <a:t>✅  Key Insight: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3611880"/>
            <a:ext cx="8778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The LLM never guesses — it can ONLY answer using the document chunks you retrieved. This eliminates hallucination and makes every answer traceable back to a source.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572000"/>
            <a:ext cx="5303520" cy="1737360"/>
          </a:xfrm>
          <a:prstGeom prst="rect">
            <a:avLst/>
          </a:prstGeom>
          <a:solidFill>
            <a:srgbClr val="2A0A0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❌  Plain LLM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0749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· Trained on internet, not your docs
· Hallucinated but confident answers
· No way to verify source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572000"/>
            <a:ext cx="5394960" cy="1737360"/>
          </a:xfrm>
          <a:prstGeom prst="rect">
            <a:avLst/>
          </a:prstGeom>
          <a:solidFill>
            <a:srgbClr val="0A2A10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76"/>
                </a:solidFill>
              </a:rPr>
              <a:t>✅  RAG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0749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· Retrieves from YOUR documents
· Grounded, accurate, traceable
· Quality measurable with TruLens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5A7A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1338560" cy="502920"/>
          </a:xfrm>
          <a:prstGeom prst="rect">
            <a:avLst/>
          </a:prstGeom>
          <a:solidFill>
            <a:srgbClr val="122A46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64008" cy="5029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3E8"/>
                </a:solidFill>
              </a:rPr>
              <a:t>CLIENT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548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User / App   |   Swagger UI /docs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11338560" cy="502920"/>
          </a:xfrm>
          <a:prstGeom prst="rect">
            <a:avLst/>
          </a:prstGeom>
          <a:solidFill>
            <a:srgbClr val="122A46"/>
          </a:solidFill>
          <a:ln w="19050"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64008" cy="50292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430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6FF"/>
                </a:solidFill>
              </a:rPr>
              <a:t>FASTAPI REST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143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15 endpoints · Pydantic schemas · OpenAPI auto-docs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91640"/>
            <a:ext cx="11338560" cy="502920"/>
          </a:xfrm>
          <a:prstGeom prst="rect">
            <a:avLst/>
          </a:prstGeom>
          <a:solidFill>
            <a:srgbClr val="122A46"/>
          </a:solidFill>
          <a:ln w="1905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64008" cy="50292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7373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6"/>
                </a:solidFill>
              </a:rPr>
              <a:t>CORE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737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KB Manager  ·  LangChain RAG Pipeline  ·  TruLens Eval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86000"/>
            <a:ext cx="11338560" cy="502920"/>
          </a:xfrm>
          <a:prstGeom prst="rect">
            <a:avLst/>
          </a:prstGeom>
          <a:solidFill>
            <a:srgbClr val="122A46"/>
          </a:solidFill>
          <a:ln w="19050">
            <a:solidFill>
              <a:srgbClr val="A2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286000"/>
            <a:ext cx="64008" cy="502920"/>
          </a:xfrm>
          <a:prstGeom prst="rect">
            <a:avLst/>
          </a:prstGeom>
          <a:solidFill>
            <a:srgbClr val="A2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3317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26CFF"/>
                </a:solidFill>
              </a:rPr>
              <a:t>VECTOR STORES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331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FAISS  (in-memory, fast)   |   ChromaDB  (disk-persistent)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80360"/>
            <a:ext cx="11338560" cy="502920"/>
          </a:xfrm>
          <a:prstGeom prst="rect">
            <a:avLst/>
          </a:prstGeom>
          <a:solidFill>
            <a:srgbClr val="122A46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880360"/>
            <a:ext cx="64008" cy="502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92607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OPENAI EXTERNAL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92607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Embeddings: text-embedding-ada-002   |   LLM: gpt-3.5/4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74720"/>
            <a:ext cx="11338560" cy="502920"/>
          </a:xfrm>
          <a:prstGeom prst="rect">
            <a:avLst/>
          </a:prstGeom>
          <a:solidFill>
            <a:srgbClr val="122A46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474720"/>
            <a:ext cx="64008" cy="5029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52043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FILE SYSTEM 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5204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data/{kb_id}/metadata.json  ·  documents/*.txt  ·  vector_store/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10241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4A6A"/>
                </a:solidFill>
              </a:rPr>
              <a:t>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16184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4A6A"/>
                </a:solidFill>
              </a:rPr>
              <a:t>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22128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4A6A"/>
                </a:solidFill>
              </a:rPr>
              <a:t>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28072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4A6A"/>
                </a:solidFill>
              </a:rPr>
              <a:t>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34015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4A6A"/>
                </a:solidFill>
              </a:rPr>
              <a:t>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C4D8"/>
                </a:solidFill>
              </a:rPr>
              <a:t>Stack at a glance: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4224528"/>
            <a:ext cx="1229868" cy="256032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50592" y="4242816"/>
            <a:ext cx="11384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Python 3.11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90187" y="4224528"/>
            <a:ext cx="882396" cy="256032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63339" y="4242816"/>
            <a:ext cx="7909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FastAPI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55464" y="4224528"/>
            <a:ext cx="1056132" cy="25603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28616" y="4242816"/>
            <a:ext cx="9646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LangChain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4475" y="4224528"/>
            <a:ext cx="795528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67627" y="4242816"/>
            <a:ext cx="7040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OpenAI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72883" y="4224528"/>
            <a:ext cx="708659" cy="2560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46036" y="4242816"/>
            <a:ext cx="6172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FAISS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64423" y="4224528"/>
            <a:ext cx="969264" cy="256032"/>
          </a:xfrm>
          <a:prstGeom prst="rect">
            <a:avLst/>
          </a:prstGeom>
          <a:solidFill>
            <a:srgbClr val="A2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37575" y="4242816"/>
            <a:ext cx="877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ChromaDB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16567" y="4224528"/>
            <a:ext cx="882396" cy="2560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9719" y="4242816"/>
            <a:ext cx="7909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TruLens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181843" y="4224528"/>
            <a:ext cx="969264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54995" y="4242816"/>
            <a:ext cx="877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Pydantic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5A7A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Knowledge Base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8"/>
                </a:solidFill>
              </a:rPr>
              <a:t>Organize your documents into named, isolated containers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577840" cy="1691640"/>
          </a:xfrm>
          <a:prstGeom prst="rect">
            <a:avLst/>
          </a:prstGeom>
          <a:solidFill>
            <a:srgbClr val="122A46"/>
          </a:solidFill>
          <a:ln w="19050"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6FF"/>
                </a:solidFill>
              </a:rPr>
              <a:t>📂  What is a Knowledge Base?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A named container that holds documents and a vector index.
Each KB is fully isolated — queries only search within one KB.
Example KBs: HR Policies · Product Docs · Legal Contracts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25880"/>
            <a:ext cx="5577840" cy="1691640"/>
          </a:xfrm>
          <a:prstGeom prst="rect">
            <a:avLst/>
          </a:prstGeom>
          <a:solidFill>
            <a:srgbClr val="122A46"/>
          </a:solidFill>
          <a:ln w="19050">
            <a:solidFill>
              <a:srgbClr val="A2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1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26CFF"/>
                </a:solidFill>
              </a:rPr>
              <a:t>⚙️  Vector Store Choice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FAISS — in-memory, rebuilt on each query. Fast, great for dev.
ChromaDB — persisted to disk. Survives restarts, scales better.
Choose when creating the KB — cannot be changed afterwards.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6FF"/>
                </a:solidFill>
              </a:rPr>
              <a:t>Endpoints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657600"/>
            <a:ext cx="11338560" cy="475488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67328"/>
            <a:ext cx="621792" cy="25603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785615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7216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/knowledge-bases/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721608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Create a new KB — set name, description, vector_store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06240"/>
            <a:ext cx="11338560" cy="475488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315968"/>
            <a:ext cx="534924" cy="256032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334255"/>
            <a:ext cx="4434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2702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/knowledge-bases/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270248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List all KBs with metadata &amp; document count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754880"/>
            <a:ext cx="11338560" cy="475488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864608"/>
            <a:ext cx="534924" cy="256032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882896"/>
            <a:ext cx="4434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188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/knowledge-bases/{id}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818888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Get a single KB's full details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03520"/>
            <a:ext cx="11338560" cy="475488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413248"/>
            <a:ext cx="534924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5431536"/>
            <a:ext cx="4434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3675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/knowledge-bases/{id}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367528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Update name or description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852160"/>
            <a:ext cx="11338560" cy="475488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961888"/>
            <a:ext cx="795528" cy="2560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5980176"/>
            <a:ext cx="7040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DELETE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9161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/knowledge-bases/{id}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916168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Permanently delete KB + all documents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5A7A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Document Ingestion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8"/>
                </a:solidFill>
              </a:rPr>
              <a:t>From raw text file to searchable vector 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2011680" cy="1463040"/>
          </a:xfrm>
          <a:prstGeom prst="rect">
            <a:avLst/>
          </a:prstGeom>
          <a:solidFill>
            <a:srgbClr val="122A46"/>
          </a:solidFill>
          <a:ln w="25400"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463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6FF"/>
                </a:solidFill>
              </a:rPr>
              <a:t>📤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920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POST /…/documents/upload
Multipart .txt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8" y="1920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6FF"/>
                </a:solidFill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2888" y="1371600"/>
            <a:ext cx="2011680" cy="1463040"/>
          </a:xfrm>
          <a:prstGeom prst="rect">
            <a:avLst/>
          </a:prstGeom>
          <a:solidFill>
            <a:srgbClr val="122A46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4328" y="1463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73E8"/>
                </a:solidFill>
              </a:rPr>
              <a:t>💾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1920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Saved to
data/{kb_id}/documents/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1920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6FF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5736" y="1371600"/>
            <a:ext cx="2011680" cy="1463040"/>
          </a:xfrm>
          <a:prstGeom prst="rect">
            <a:avLst/>
          </a:prstGeom>
          <a:solidFill>
            <a:srgbClr val="122A46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37176" y="1463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107"/>
                </a:solidFill>
              </a:rPr>
              <a:t>✂️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1920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RecursiveCharacterTextSplitter
500 chars · 50 overlap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5704" y="1920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6FF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58584" y="1371600"/>
            <a:ext cx="2011680" cy="1463040"/>
          </a:xfrm>
          <a:prstGeom prst="rect">
            <a:avLst/>
          </a:prstGeom>
          <a:solidFill>
            <a:srgbClr val="122A46"/>
          </a:solidFill>
          <a:ln w="25400">
            <a:solidFill>
              <a:srgbClr val="A2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0024" y="1463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26CFF"/>
                </a:solidFill>
              </a:rPr>
              <a:t>🔢 Embed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24" y="1920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OpenAI Embeddings
text-embedding-ada-002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1920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6FF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71432" y="1371600"/>
            <a:ext cx="2011680" cy="1463040"/>
          </a:xfrm>
          <a:prstGeom prst="rect">
            <a:avLst/>
          </a:prstGeom>
          <a:solidFill>
            <a:srgbClr val="122A46"/>
          </a:solidFill>
          <a:ln w="254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1463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576"/>
                </a:solidFill>
              </a:rPr>
              <a:t>🗂️ 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1920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FAISS / ChromaDB
vector store built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6FF"/>
                </a:solidFill>
              </a:rPr>
              <a:t>Document Endpoints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474720"/>
            <a:ext cx="11338560" cy="475488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584448"/>
            <a:ext cx="534924" cy="256032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3602736"/>
            <a:ext cx="4434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3538727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/knowledge-bases/{id}/documents/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3538727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List all docs — name, size, last modified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023359"/>
            <a:ext cx="11338560" cy="475488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133087"/>
            <a:ext cx="621792" cy="25603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4151375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POST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0873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/knowledge-bases/{id}/documents/upload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408736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Upload a .txt file to the KB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572000"/>
            <a:ext cx="11338560" cy="475488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681728"/>
            <a:ext cx="534924" cy="256032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4700016"/>
            <a:ext cx="4434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4636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/knowledge-bases/{id}/documents/{name}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463600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Read full content + word 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120640"/>
            <a:ext cx="11338560" cy="475488"/>
          </a:xfrm>
          <a:prstGeom prst="rect">
            <a:avLst/>
          </a:prstGeom>
          <a:solidFill>
            <a:srgbClr val="12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5230368"/>
            <a:ext cx="534924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5248655"/>
            <a:ext cx="4434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8760" y="51846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/knowledge-bases/{id}/documents/{name}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0" y="518464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Replace document content (re-indexed next query)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669279"/>
            <a:ext cx="11338560" cy="475488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5779007"/>
            <a:ext cx="795528" cy="2560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5797295"/>
            <a:ext cx="7040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DELETE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08760" y="57332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/knowledge-bases/{id}/documents/{name}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0" y="573328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Remove document from KB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5A7A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a Query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8"/>
                </a:solidFill>
              </a:rPr>
              <a:t>POST /knowledge-bases/{kb_id}/query/   ·   { "query": "What is the refund policy?" }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7132320" cy="621792"/>
          </a:xfrm>
          <a:prstGeom prst="rect">
            <a:avLst/>
          </a:prstGeom>
          <a:solidFill>
            <a:srgbClr val="122A46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64008" cy="6217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624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① Validate KB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36776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Confirm KB exists and has documents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29967"/>
            <a:ext cx="7132320" cy="621792"/>
          </a:xfrm>
          <a:prstGeom prst="rect">
            <a:avLst/>
          </a:prstGeom>
          <a:solidFill>
            <a:srgbClr val="122A46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029967"/>
            <a:ext cx="64008" cy="6217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66543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② Load 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40863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Read all .txt files from data/{kb_id}/documents/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34056"/>
            <a:ext cx="7132320" cy="621792"/>
          </a:xfrm>
          <a:prstGeom prst="rect">
            <a:avLst/>
          </a:prstGeom>
          <a:solidFill>
            <a:srgbClr val="122A46"/>
          </a:solidFill>
          <a:ln w="12700"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734056"/>
            <a:ext cx="64008" cy="621792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706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6FF"/>
                </a:solidFill>
              </a:rPr>
              <a:t>③ Chunk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4495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Split into 500-char overlapping segments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438144"/>
            <a:ext cx="7132320" cy="621792"/>
          </a:xfrm>
          <a:prstGeom prst="rect">
            <a:avLst/>
          </a:prstGeom>
          <a:solidFill>
            <a:srgbClr val="122A46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438144"/>
            <a:ext cx="64008" cy="6217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747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④ Embed Everything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49039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Vectorize all chunks + the user query (OpenAI Embeddings)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142232"/>
            <a:ext cx="7132320" cy="621792"/>
          </a:xfrm>
          <a:prstGeom prst="rect">
            <a:avLst/>
          </a:prstGeom>
          <a:solidFill>
            <a:srgbClr val="122A46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142232"/>
            <a:ext cx="64008" cy="6217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788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⑤ Similarity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5312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Find the 5 chunks most semantically similar to the query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846320"/>
            <a:ext cx="7132320" cy="621792"/>
          </a:xfrm>
          <a:prstGeom prst="rect">
            <a:avLst/>
          </a:prstGeom>
          <a:solidFill>
            <a:srgbClr val="122A46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846320"/>
            <a:ext cx="64008" cy="62179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828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6"/>
                </a:solidFill>
              </a:rPr>
              <a:t>⑥ Build Prompt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157216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"Use this context:
{chunks}
Answer: {query}"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550408"/>
            <a:ext cx="7132320" cy="621792"/>
          </a:xfrm>
          <a:prstGeom prst="rect">
            <a:avLst/>
          </a:prstGeom>
          <a:solidFill>
            <a:srgbClr val="122A46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5550408"/>
            <a:ext cx="64008" cy="62179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5869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6"/>
                </a:solidFill>
              </a:rPr>
              <a:t>⑦ LLM Generation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86130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OpenAI generates answer grounded in retrieved context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1280160"/>
            <a:ext cx="4160520" cy="5074920"/>
          </a:xfrm>
          <a:prstGeom prst="rect">
            <a:avLst/>
          </a:prstGeom>
          <a:solidFill>
            <a:srgbClr val="122A46"/>
          </a:solidFill>
          <a:ln w="1905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1371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76"/>
                </a:solidFill>
              </a:rPr>
              <a:t>Response Schema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1783080"/>
            <a:ext cx="3931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</a:rPr>
              <a:t>  {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B0C4D8"/>
                </a:solidFill>
              </a:rPr>
              <a:t>    "kb_id":   "kb_a1b2c3d4",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B0C4D8"/>
                </a:solidFill>
              </a:rPr>
              <a:t>    "query":  "What is the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B0C4D8"/>
                </a:solidFill>
              </a:rPr>
              <a:t>               refund policy?",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0E576"/>
                </a:solidFill>
              </a:rPr>
              <a:t>    "response": "Customers may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0E576"/>
                </a:solidFill>
              </a:rPr>
              <a:t>      request a refund within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0E576"/>
                </a:solidFill>
              </a:rPr>
              <a:t>      30 days of purchase..."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5A7A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2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TruLens Evaluation — RAG Triad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8"/>
                </a:solidFill>
              </a:rPr>
              <a:t>Three LLM-judged metrics that tell you exactly where your pipeline is failing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3703320" cy="3291840"/>
          </a:xfrm>
          <a:prstGeom prst="rect">
            <a:avLst/>
          </a:prstGeom>
          <a:solidFill>
            <a:srgbClr val="122A46"/>
          </a:solidFill>
          <a:ln w="25400"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360" y="1444752"/>
            <a:ext cx="1005840" cy="50292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44475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0.94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6FF"/>
                </a:solidFill>
              </a:rPr>
              <a:t>Answer Relevance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Did the model actually answer
the question that was asked?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3429000" cy="1828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700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⚠️ Catches: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8"/>
                </a:solidFill>
              </a:rPr>
              <a:t>Catches off-topic or evasive
responses from the LLM.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3429000" cy="201168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3223260" cy="201168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371600"/>
            <a:ext cx="3703320" cy="3291840"/>
          </a:xfrm>
          <a:prstGeom prst="rect">
            <a:avLst/>
          </a:prstGeom>
          <a:solidFill>
            <a:srgbClr val="122A46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12279" y="1444752"/>
            <a:ext cx="1005840" cy="502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79" y="144475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0.87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Context Relevance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9659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Did the retrieval step surface
the right document chunks?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606040"/>
            <a:ext cx="3429000" cy="1828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6700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⚠️ Catches: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971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8"/>
                </a:solidFill>
              </a:rPr>
              <a:t>Catches poor chunking or indexing
— the LLM was given wrong context.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4206240"/>
            <a:ext cx="3429000" cy="201168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4206240"/>
            <a:ext cx="2983230" cy="20116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79" y="1371600"/>
            <a:ext cx="3703320" cy="3291840"/>
          </a:xfrm>
          <a:prstGeom prst="rect">
            <a:avLst/>
          </a:prstGeom>
          <a:solidFill>
            <a:srgbClr val="122A46"/>
          </a:solidFill>
          <a:ln w="254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744200" y="1444752"/>
            <a:ext cx="1005840" cy="50292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44200" y="144475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0.91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76"/>
                </a:solidFill>
              </a:rPr>
              <a:t>Groundedness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19659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Is every claim in the answer
backed by retrieved context?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2606040"/>
            <a:ext cx="3429000" cy="1828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26700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⚠️ Catches: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971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8"/>
                </a:solidFill>
              </a:rPr>
              <a:t>Catches hallucination — the LLM
inventing facts not in the documents.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4206240"/>
            <a:ext cx="3429000" cy="201168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21040" y="4206240"/>
            <a:ext cx="3120390" cy="201168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4709160"/>
            <a:ext cx="11521440" cy="621792"/>
          </a:xfrm>
          <a:prstGeom prst="rect">
            <a:avLst/>
          </a:prstGeom>
          <a:solidFill>
            <a:srgbClr val="0A2010"/>
          </a:solidFill>
          <a:ln w="1905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7823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76"/>
                </a:solidFill>
              </a:rPr>
              <a:t>⭐  RAG Triad Average: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4828032"/>
            <a:ext cx="6858000" cy="347472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66160" y="4828032"/>
            <a:ext cx="6220206" cy="34747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0" y="478231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76"/>
                </a:solidFill>
              </a:rPr>
              <a:t>0.907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55321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C4D8"/>
                </a:solidFill>
              </a:rPr>
              <a:t>All evaluation records persist  →  GET /evaluate/records   |   GET /evaluate/leaderboard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5A7A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API Design &amp; Developer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88720"/>
            <a:ext cx="5669280" cy="960120"/>
          </a:xfrm>
          <a:prstGeom prst="rect">
            <a:avLst/>
          </a:prstGeom>
          <a:solidFill>
            <a:srgbClr val="122A46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64008" cy="9601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6FF"/>
                </a:solidFill>
              </a:rPr>
              <a:t>⚡ FastAPI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Async Python framework — handles high concurrency.
Auto-generates OpenAPI spec from type hints.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249424"/>
            <a:ext cx="5669280" cy="960120"/>
          </a:xfrm>
          <a:prstGeom prst="rect">
            <a:avLst/>
          </a:prstGeom>
          <a:solidFill>
            <a:srgbClr val="122A46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249424"/>
            <a:ext cx="64008" cy="9601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134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6FF"/>
                </a:solidFill>
              </a:rPr>
              <a:t>📐 Pydantic Schemas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6090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Every request and response has a strict typed schema.
Field descriptions, examples, min/max constraints.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310128"/>
            <a:ext cx="5669280" cy="960120"/>
          </a:xfrm>
          <a:prstGeom prst="rect">
            <a:avLst/>
          </a:prstGeom>
          <a:solidFill>
            <a:srgbClr val="122A46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3310128"/>
            <a:ext cx="64008" cy="9601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741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6FF"/>
                </a:solidFill>
              </a:rPr>
              <a:t>🏷️ Tags &amp; Grouping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2160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System · Knowledge Bases · Documents · Query · Evaluation
5 logical groups, each fully documented in Swagger.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370831"/>
            <a:ext cx="5669280" cy="960120"/>
          </a:xfrm>
          <a:prstGeom prst="rect">
            <a:avLst/>
          </a:prstGeom>
          <a:solidFill>
            <a:srgbClr val="122A46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370831"/>
            <a:ext cx="64008" cy="9601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434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6FF"/>
                </a:solidFill>
              </a:rPr>
              <a:t>🛡️ Error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78231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Consistent HTTPException with proper HTTP codes:
400 Bad Request · 404 Not Found · 500 Server Error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431536"/>
            <a:ext cx="5669280" cy="960120"/>
          </a:xfrm>
          <a:prstGeom prst="rect">
            <a:avLst/>
          </a:prstGeom>
          <a:solidFill>
            <a:srgbClr val="122A46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5431536"/>
            <a:ext cx="64008" cy="9601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4955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6FF"/>
                </a:solidFill>
              </a:rPr>
              <a:t>🔒 Input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43016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Path traversal blocked on all file operations.
API key loaded from .env — never hardcoded.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143000"/>
            <a:ext cx="5532120" cy="5577840"/>
          </a:xfrm>
          <a:prstGeom prst="rect">
            <a:avLst/>
          </a:prstGeom>
          <a:solidFill>
            <a:srgbClr val="122A46"/>
          </a:solidFill>
          <a:ln w="19050"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6FF"/>
                </a:solidFill>
              </a:rPr>
              <a:t>Complete API  (15 endpoints)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691640"/>
            <a:ext cx="534924" cy="256032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1709928"/>
            <a:ext cx="4434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16916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/health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061972"/>
            <a:ext cx="621792" cy="25603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392" y="2080260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20619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/knowledge-bases/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2340864"/>
            <a:ext cx="534924" cy="256032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2359152"/>
            <a:ext cx="4434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234086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/knowledge-bases/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2619756"/>
            <a:ext cx="534924" cy="256032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2638044"/>
            <a:ext cx="4434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26197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/knowledge-bases/{id}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2898648"/>
            <a:ext cx="534924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2916936"/>
            <a:ext cx="4434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28986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/knowledge-bases/{id}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3177540"/>
            <a:ext cx="795528" cy="2560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3195828"/>
            <a:ext cx="7040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DELETE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31775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/knowledge-bases/{id}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3547872"/>
            <a:ext cx="534924" cy="256032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65392" y="3566160"/>
            <a:ext cx="4434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35478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/…/documents/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3826764"/>
            <a:ext cx="621792" cy="25603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65392" y="3845052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POST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8040" y="382676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/…/documents/upload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4105656"/>
            <a:ext cx="534924" cy="256032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65392" y="4123944"/>
            <a:ext cx="4434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41056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/…/documents/{name}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4384548"/>
            <a:ext cx="534924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65392" y="4402836"/>
            <a:ext cx="4434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78040" y="43845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/…/documents/{name}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4663440"/>
            <a:ext cx="795528" cy="2560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65392" y="4681728"/>
            <a:ext cx="7040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DELETE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8040" y="46634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/…/documents/{name}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92240" y="5033772"/>
            <a:ext cx="621792" cy="25603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65392" y="5052059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POST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78040" y="50337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/…/query/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92240" y="5312664"/>
            <a:ext cx="621792" cy="256032"/>
          </a:xfrm>
          <a:prstGeom prst="rect">
            <a:avLst/>
          </a:prstGeom>
          <a:solidFill>
            <a:srgbClr val="A2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65392" y="5330951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POST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78040" y="531266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/…/evaluate/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92240" y="5591555"/>
            <a:ext cx="534924" cy="256032"/>
          </a:xfrm>
          <a:prstGeom prst="rect">
            <a:avLst/>
          </a:prstGeom>
          <a:solidFill>
            <a:srgbClr val="A2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65392" y="5609843"/>
            <a:ext cx="4434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78040" y="5591555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/evaluate/records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92240" y="5870447"/>
            <a:ext cx="534924" cy="256032"/>
          </a:xfrm>
          <a:prstGeom prst="rect">
            <a:avLst/>
          </a:prstGeom>
          <a:solidFill>
            <a:srgbClr val="A2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65392" y="5888735"/>
            <a:ext cx="4434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78040" y="5870447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/evaluate/leaderboard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5A7A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Real-World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8"/>
                </a:solidFill>
              </a:rPr>
              <a:t>Where this architecture adds immediate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3749039" cy="3017520"/>
          </a:xfrm>
          <a:prstGeom prst="rect">
            <a:avLst/>
          </a:prstGeom>
          <a:solidFill>
            <a:srgbClr val="122A46"/>
          </a:solidFill>
          <a:ln w="25400">
            <a:solidFill>
              <a:srgbClr val="00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749039" cy="73152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6FF"/>
                </a:solidFill>
              </a:rPr>
              <a:t>🎓 L&amp;D Platform
(e.g. Speexx)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84831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Automate session reports from teacher notes
• Generate exercises grounded in curriculum KB
• Evaluate AI bot quality with TruLens triad
• Presales demo: live KB from prospect's own docs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325880"/>
            <a:ext cx="3749039" cy="3017520"/>
          </a:xfrm>
          <a:prstGeom prst="rect">
            <a:avLst/>
          </a:prstGeom>
          <a:solidFill>
            <a:srgbClr val="122A46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325880"/>
            <a:ext cx="3749039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173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🏢 Enterprise
Knowledge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84831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HR policies, legal docs, product manuals
• Employees ask questions in natural language
• Answers traceable to source documents
• Multiple KBs per department, isolated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19" y="1325880"/>
            <a:ext cx="3749039" cy="3017520"/>
          </a:xfrm>
          <a:prstGeom prst="rect">
            <a:avLst/>
          </a:prstGeom>
          <a:solidFill>
            <a:srgbClr val="122A46"/>
          </a:solidFill>
          <a:ln w="254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19" y="1325880"/>
            <a:ext cx="3749039" cy="7315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4173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76"/>
                </a:solidFill>
              </a:rPr>
              <a:t>🤖 AI Agent
Memory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84831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• Plug KB retrieval into any AI agent pipeline
• Agents query the KB before taking actions
• Structured eval loop improves agent quality
• Swap vector stores without changing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6FF"/>
                </a:solidFill>
              </a:rPr>
              <a:t>Future Enhancements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029200"/>
            <a:ext cx="3703320" cy="475488"/>
          </a:xfrm>
          <a:prstGeom prst="rect">
            <a:avLst/>
          </a:prstGeom>
          <a:solidFill>
            <a:srgbClr val="0A14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1023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🔐 Auth  OAuth2 / API Key auth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5029200"/>
            <a:ext cx="3703320" cy="475488"/>
          </a:xfrm>
          <a:prstGeom prst="rect">
            <a:avLst/>
          </a:prstGeom>
          <a:solidFill>
            <a:srgbClr val="0A14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51023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📄 PDF support  PDFLoader for non-text files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5029200"/>
            <a:ext cx="3703320" cy="475488"/>
          </a:xfrm>
          <a:prstGeom prst="rect">
            <a:avLst/>
          </a:prstGeom>
          <a:solidFill>
            <a:srgbClr val="0A14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51023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💬 Chat history  Multi-turn conversation memory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596128"/>
            <a:ext cx="3703320" cy="475488"/>
          </a:xfrm>
          <a:prstGeom prst="rect">
            <a:avLst/>
          </a:prstGeom>
          <a:solidFill>
            <a:srgbClr val="0A14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669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🐳 Docker  One-command deploy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5596128"/>
            <a:ext cx="3703320" cy="475488"/>
          </a:xfrm>
          <a:prstGeom prst="rect">
            <a:avLst/>
          </a:prstGeom>
          <a:solidFill>
            <a:srgbClr val="0A14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5669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📊 Dashboard  TruLens visual leaderboard UI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5596128"/>
            <a:ext cx="3703320" cy="475488"/>
          </a:xfrm>
          <a:prstGeom prst="rect">
            <a:avLst/>
          </a:prstGeom>
          <a:solidFill>
            <a:srgbClr val="0A14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5669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☁️ Cloud  AWS / Azure deployment-ready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5A7A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